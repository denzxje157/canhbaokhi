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2895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A5E9"/>
                </a:solidFill>
                <a:latin typeface="Arial"/>
              </a:defRPr>
            </a:pPr>
            <a:r>
              <a:t>CUỘC THI KHOA HỌC KỸ THUẬT DÀNH CHO HỌC SINH TRUNG HỌC CƠ SỞ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THIẾT BỊ CẢNH BÁO KHÍ ĐỘC</a:t>
            </a:r>
            <a:br/>
            <a:r>
              <a:t>VÀ THIẾU OXYGEN TRONG KHÔNG GIAN KÍN</a:t>
            </a:r>
          </a:p>
          <a:p>
            <a:pPr algn="ctr">
              <a:defRPr sz="1500">
                <a:solidFill>
                  <a:srgbClr val="0EA5E9"/>
                </a:solidFill>
                <a:latin typeface="Arial"/>
              </a:defRPr>
            </a:pPr>
            <a:r>
              <a:t>Giải pháp bảo vệ tính mạng người lao động – Ứng dụng Vật lý 9 &amp; Hệ thống nhúng ESP32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320040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A5E9"/>
                </a:solidFill>
                <a:latin typeface="Arial"/>
              </a:defRPr>
            </a:pPr>
            <a:r>
              <a:t>HIỆN TƯỢNG VẬT LÝ 9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Khắc phục sụt áp đường dây bằng cụm 3-3-2 &amp; Định luật Ohm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931920"/>
            <a:ext cx="320040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A5E9"/>
                </a:solidFill>
                <a:latin typeface="Arial"/>
              </a:defRPr>
            </a:pPr>
            <a:r>
              <a:t>CẢNH BÁO 3 CẤP ĐỘ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LED 3 màu &amp; Còi hú dồn dập chặn đứng cứu hộ tự phát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931920"/>
            <a:ext cx="320040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A5E9"/>
                </a:solidFill>
                <a:latin typeface="Arial"/>
              </a:defRPr>
            </a:pPr>
            <a:r>
              <a:t>TRUYỀN TIN TIN CẬY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Chuẩn vi sai có dây RS485 &amp; Wi-Fi Access Point cục bộ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i="1">
                <a:solidFill>
                  <a:srgbClr val="64748B"/>
                </a:solidFill>
                <a:latin typeface="Arial"/>
              </a:defRPr>
            </a:pPr>
            <a:r>
              <a:t>Lĩnh vực: Hệ thống nhúng | Nhóm học sinh Nghiên cứu Dự 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DỰ ÁN NGHIÊN CỨU KHOA HỌC KỸ THUẬT THCS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1. Nỗi đau thực tế: Hiểm họa tử thần trong không gian kín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Arial"/>
              </a:defRPr>
            </a:pPr>
            <a:r>
              <a:t>SÁT THỦ VÔ HÌNH DƯỚI LÒNG ĐẤT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• Không gian kín: Hầm biogas, bồn chứa, cống ngầm, hố sâu luôn tích tụ khí độc hoặc cạn kiệt Oxy.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• Khí độc CO không màu, không mùi; Khí CH4 gây nổ; Thiếu Oxy mắt thường không thể thấy.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• Nạn nhân gục ngã chỉ sau 30 – 45 giây hít thở trong môi trường cạn oxy mà không hề hay biết.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Arial"/>
              </a:defRPr>
            </a:pPr>
            <a:r>
              <a:t>THẢM KỊCH CỨU HỘ DÂY CHUYỀN TỰ PHÁT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⚠️ Vụ hầm biogas Thanh Hóa (2026): 5 người tử vong tại chỗ, 8 người ngộ độc cấp cứu.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⚠️ Vụ hầm kín Đồng Nai: 3 người trong một gia đình tử vong liên tiếp vì người trước ngất, người sau lao xuống cứu.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⚠️ Vụ cống ngầm TP.HCM: 2 công nhân tử vong khi nạo vét do khí độc tích tụ lâu ngày.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⚠️ LỖI CỐT LÕI: Người trên bờ hoàn toàn mù thông tin về không khí bên dưới, lao xuống cứu nạn tự phát làm tăng thương vong thảm khốc!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DỰ ÁN NGHIÊN CỨU KHOA HỌC KỸ THUẬT THCS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2. Thực trạng hiện nay &amp; Lỗ hổng công nghệ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LỖ HỔNG 1: QUÁ ĐẮT ĐỎ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Máy đo khí công nghiệp nhập khẩu có giá từ 15 - 30 triệu đồng.</a:t>
            </a:r>
            <a:br/>
            <a:r>
              <a:t>• Chỉ doanh nghiệp lớn mới mua.</a:t>
            </a:r>
            <a:br/>
            <a:r>
              <a:t>• Người dân, thợ sửa chữa, công nhân vệ sinh nhỏ lẻ không thể tiếp cận.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LỖ HỔNG 2: THIẾU CẢNH BÁO TẠI CỬA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Các máy cầm tay chỉ báo khi người đã bước xuống dưới đáy.</a:t>
            </a:r>
            <a:br/>
            <a:r>
              <a:t>• Khi phát hiện khí thì nạn nhân đã hít phải và ngất.</a:t>
            </a:r>
            <a:br/>
            <a:r>
              <a:t>• Không có còi hú lớn ngay tại miệng cửa để ngăn người lao xuống cứu tự phát.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LỖ HỔNG 3: MẤT SÓNG KHÔNG DÂY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Thành vách bê tông, đất đá dày cản trở sóng Wi-Fi/Bluetooth.</a:t>
            </a:r>
            <a:br/>
            <a:r>
              <a:t>• Thiết bị không dây bị ngắt kết nối khi thả sâu.</a:t>
            </a:r>
            <a:br/>
            <a:r>
              <a:t>• Người trên bờ mất khả năng theo dõi liên tục.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DỰ ÁN NGHIÊN CỨU KHOA HỌC KỸ THUẬT THCS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3. Giải pháp: Thiết bị đi trước – Con người đi sau!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Arial"/>
              </a:defRPr>
            </a:pPr>
            <a:r>
              <a:t>MÔ HÌNH HỆ THỐNG 2 KHỐI ĐỘC LẬP</a:t>
            </a:r>
          </a:p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1. KHỐI THẢ SÂU (ĐẦU DÒ DƯỚI ĐÁY):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Hộp nhựa bảo vệ thả sâu xuống đáy không gian kín.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Cảm biến đo Oxygen (DFRobot I2C độ nhạy cao).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Cảm biến khí độc MQ-7 (CO) và khí cháy MQ-4 (Metan).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Cảm biến nhiệt ẩm DHT22 để tự động bù sai số.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ESP32 Slave đọc nồng độ và gửi dữ liệu lên bờ.</a:t>
            </a:r>
          </a:p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2. KHỐI MẶT ĐẤT (TRUNG TÂM CẢNH BÁO):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Đặt ngay tại cửa miệng không gian kín.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Màn hình OLED hiển thị số đo liên tục.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Đèn LED 3 màu (Xanh - Vàng - Đỏ) &amp; Còi hú báo động lớn.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Tự phát Wi-Fi Access Point kết nối điện thoại giám sát.</a:t>
            </a:r>
          </a:p>
        </p:txBody>
      </p:sp>
      <p:pic>
        <p:nvPicPr>
          <p:cNvPr id="8" name="Picture 7" descr="hinh1_so_do_khoi_tong_t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DỰ ÁN NGHIÊN CỨU KHOA HỌC KỸ THUẬT THCS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4. Ứng dụng Vật lý lớp 9: Giải mã bài toán sụt áp đường dây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  <a:latin typeface="Arial"/>
              </a:defRPr>
            </a:pPr>
            <a:r>
              <a:t>VÍ NHƯ ĐƯỜNG ỐNG NƯỚC BỊ YẾU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Sự cố thực tế: Cáp dài, cảm biến khí MQ ăn dòng nung lớn làm rơi áp trên dây (sụt áp &lt; 4.5V), vi điều khiển bị đói điện, treo và reset liên tục.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Hình tượng đời thường: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  • Ống nước càng dài, ma sát càng lớn -&gt; nước đầu ra rỉ yếu.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  • Dây điện càng dài, điện trở R càng lớn -&gt; điện áp tụt.</a:t>
            </a:r>
          </a:p>
          <a:p>
            <a:pPr>
              <a:defRPr sz="1150" b="1">
                <a:solidFill>
                  <a:srgbClr val="1E293B"/>
                </a:solidFill>
                <a:latin typeface="Arial"/>
              </a:defRPr>
            </a:pPr>
            <a:r>
              <a:t>Hai công thức Vật lý 9 cốt lõi: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  1. Điện trở dây dẫn: R = ρ · (l / S)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  2. Định luật Ohm: ΔU = I · R (Điện áp hao hụt)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6A34A"/>
                </a:solidFill>
                <a:latin typeface="Arial"/>
              </a:defRPr>
            </a:pPr>
            <a:r>
              <a:t>GIẢI PHÁP ĐẤU NỐI CỤM 3 - 3 - 2</a:t>
            </a:r>
          </a:p>
          <a:p>
            <a:pPr>
              <a:defRPr sz="1100" b="1">
                <a:solidFill>
                  <a:srgbClr val="16A34A"/>
                </a:solidFill>
                <a:latin typeface="Arial"/>
              </a:defRPr>
            </a:pPr>
            <a:r>
              <a:t>1. TĂNG TIẾT DIỆN S LÕI DÂY (R giảm 3 lần):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Chập 3 sợi dây đồng làm cực Dương (+ 5V).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Chập 3 sợi dây đồng làm cực Âm (- GND).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Giống như mở rộng đường cao tốc thành 3 làn xe, điện trở dây dẫn giảm ngay 3 lần!</a:t>
            </a:r>
          </a:p>
          <a:p>
            <a:pPr>
              <a:defRPr sz="1100" b="1">
                <a:solidFill>
                  <a:srgbClr val="16A34A"/>
                </a:solidFill>
                <a:latin typeface="Arial"/>
              </a:defRPr>
            </a:pPr>
            <a:r>
              <a:t>2. 2 SỢI CÒN LẠI DÙNG CHO TÍN HIỆU RS485: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Dùng đúng cặp dây xoắn vi sai A - B để truyền tin chống nhiễu.</a:t>
            </a:r>
          </a:p>
          <a:p>
            <a:pPr>
              <a:defRPr sz="1100" b="1">
                <a:solidFill>
                  <a:srgbClr val="16A34A"/>
                </a:solidFill>
                <a:latin typeface="Arial"/>
              </a:defRPr>
            </a:pPr>
            <a:r>
              <a:t>3. TĂNG ÁP BÙ HAO HỤT TẠI MẶT ĐẤT: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Chỉnh mạch hạ áp LM2596 lên 5.2V bù trước độ sụt 0.2V.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Đầu nhận dưới đáy luôn đạt chuẩn 5.0V căng đét!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DỰ ÁN NGHIÊN CỨU KHOA HỌC KỸ THUẬT THCS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5. Cảnh báo 3 cấp độ thông minh như Đèn Giao Thông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754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Arial"/>
              </a:defRPr>
            </a:pPr>
            <a:r>
              <a:t>MỨC NGUY HIỂM</a:t>
            </a:r>
          </a:p>
          <a:p>
            <a:pPr>
              <a:defRPr sz="1100" b="1">
                <a:solidFill>
                  <a:srgbClr val="1E293B"/>
                </a:solidFill>
                <a:latin typeface="Arial"/>
              </a:defRPr>
            </a:pPr>
            <a:r>
              <a:t>LED ĐỎ SÁNG + CÒI HÚ DỒN DẬP</a:t>
            </a:r>
          </a:p>
          <a:p>
            <a:pPr>
              <a:defRPr sz="1100" b="1">
                <a:solidFill>
                  <a:srgbClr val="DC2626"/>
                </a:solidFill>
                <a:latin typeface="Arial"/>
              </a:defRPr>
            </a:pPr>
            <a:r>
              <a:t>Điều kiện kích hoạt: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O2 &lt; 18.0%  HOẶC</a:t>
            </a:r>
            <a:br/>
            <a:r>
              <a:t>CO &gt;= 30 ppm  HOẶC</a:t>
            </a:r>
            <a:br/>
            <a:r>
              <a:t>CH4 &gt;= 10% LEL</a:t>
            </a:r>
          </a:p>
          <a:p>
            <a:pPr>
              <a:defRPr sz="1100" b="1">
                <a:solidFill>
                  <a:srgbClr val="DC2626"/>
                </a:solidFill>
                <a:latin typeface="Arial"/>
              </a:defRPr>
            </a:pPr>
            <a:r>
              <a:t>Hành động thực tế: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Cực kỳ nguy hiểm! Não ngạt oxy, nhiễm độc CO hoặc nguy cơ nổ khí gas.</a:t>
            </a:r>
            <a:br/>
            <a:r>
              <a:t>-&gt; TUYỆT ĐỐI KHÔNG BƯỚC XUỐNG! Rút lui ngay lập tức!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75488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3736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Arial"/>
              </a:defRPr>
            </a:pPr>
            <a:r>
              <a:t>MỨC CẢNH BÁO</a:t>
            </a:r>
          </a:p>
          <a:p>
            <a:pPr>
              <a:defRPr sz="1100" b="1">
                <a:solidFill>
                  <a:srgbClr val="1E293B"/>
                </a:solidFill>
                <a:latin typeface="Arial"/>
              </a:defRPr>
            </a:pPr>
            <a:r>
              <a:t>LED VÀNG SÁNG + TẮT CÒI</a:t>
            </a:r>
          </a:p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Điều kiện kích hoạt: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O2 &lt;= 19.5% (&gt;= 18.0%)</a:t>
            </a:r>
            <a:br/>
            <a:r>
              <a:t>CO &gt;= 15 ppm (&lt; 30 ppm)</a:t>
            </a:r>
            <a:br/>
            <a:r>
              <a:t>CH4 &gt;= 5% LEL (&lt; 10%)</a:t>
            </a:r>
          </a:p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Hành động thực tế: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Khí quyển bắt đầu suy giảm chất lượng, chưa gây ngất ngay.</a:t>
            </a:r>
            <a:br/>
            <a:r>
              <a:t>-&gt; Theo dõi liên tục trên màn hình và chuẩn bị bật quạt thông gió.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754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73736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  <a:latin typeface="Arial"/>
              </a:defRPr>
            </a:pPr>
            <a:r>
              <a:t>MỨC AN TOÀN</a:t>
            </a:r>
          </a:p>
          <a:p>
            <a:pPr>
              <a:defRPr sz="1100" b="1">
                <a:solidFill>
                  <a:srgbClr val="1E293B"/>
                </a:solidFill>
                <a:latin typeface="Arial"/>
              </a:defRPr>
            </a:pPr>
            <a:r>
              <a:t>LED XANH SÁNG + TẮT CÒI</a:t>
            </a:r>
          </a:p>
          <a:p>
            <a:pPr>
              <a:defRPr sz="1100" b="1">
                <a:solidFill>
                  <a:srgbClr val="16A34A"/>
                </a:solidFill>
                <a:latin typeface="Arial"/>
              </a:defRPr>
            </a:pPr>
            <a:r>
              <a:t>Điều kiện kích hoạt: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O2 &gt; 19.5%  VÀ</a:t>
            </a:r>
            <a:br/>
            <a:r>
              <a:t>CO &lt; 15 ppm  VÀ</a:t>
            </a:r>
            <a:br/>
            <a:r>
              <a:t>CH4 &lt; 5% LEL</a:t>
            </a:r>
          </a:p>
          <a:p>
            <a:pPr>
              <a:defRPr sz="1100" b="1">
                <a:solidFill>
                  <a:srgbClr val="16A34A"/>
                </a:solidFill>
                <a:latin typeface="Arial"/>
              </a:defRPr>
            </a:pPr>
            <a:r>
              <a:t>Hành động thực tế: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Không khí trong lành, đủ dưỡng khí và không có khí độc/khí cháy.</a:t>
            </a:r>
            <a:br/>
            <a:r>
              <a:t>-&gt; Người lao động an tâm làm việc bình thường.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DỰ ÁN NGHIÊN CỨU KHOA HỌC KỸ THUẬT THCS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6. Bộ não ESP32: Nguyên lý Nghe – Nghĩ – Hành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  <a:latin typeface="Arial"/>
              </a:defRPr>
            </a:pPr>
            <a:r>
              <a:t>QUY TRÌNH XỬ LÝ DỮ LIỆU THÔNG MINH</a:t>
            </a:r>
          </a:p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1. BƯỚC 1: 'NGHE' (Đọc cảm biến):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Cảm biến liên tục gửi điện áp về chân Analog và I2C.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Thuật toán lấy mẫu đa điểm 20 lần (readAdcVoltage) giúp triệt tiêu hoàn toàn nhiễu sóng, số đo cực kỳ mượt.</a:t>
            </a:r>
          </a:p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2. BƯỚC 2: 'NGHĨ' (Tính toán Log-Log):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Áp dụng công thức đặc tính phi tuyến tính của MQ-4 và MQ-7 để quy đổi điện áp ra nồng độ ppm và % LEL chuẩn xác.</a:t>
            </a:r>
          </a:p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3. BƯỚC 3: 'HÀNH ĐỘNG' (Đóng gói &amp; Phát lệnh):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Đóng gói chuỗi JSON {o2, co, ch4, temp, hum}.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Truyền lên bờ qua cáp RS485 và kích hoạt còi/đèn.</a:t>
            </a:r>
          </a:p>
        </p:txBody>
      </p:sp>
      <p:pic>
        <p:nvPicPr>
          <p:cNvPr id="8" name="Picture 7" descr="hinh2_so_do_mach_di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DỰ ÁN NGHIÊN CỨU KHOA HỌC KỸ THUẬT THCS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7. Trái tim phần mềm: Logic hàm cảnh báo handleAlarm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0350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Consolas"/>
              </a:defRPr>
            </a:pPr>
            <a:r>
              <a:t>void handleAlarm(bool isConnected) {</a:t>
            </a:r>
          </a:p>
          <a:p>
            <a:pPr>
              <a:defRPr sz="950">
                <a:solidFill>
                  <a:srgbClr val="94A3B8"/>
                </a:solidFill>
                <a:latin typeface="Consolas"/>
              </a:defRPr>
            </a:pPr>
            <a:r>
              <a:t>  // 1. Kiểm tra đứt dây cáp mạng (&gt; 5s)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  if (!isConnected) {</a:t>
            </a:r>
          </a:p>
          <a:p>
            <a:pPr>
              <a:defRPr sz="950">
                <a:solidFill>
                  <a:srgbClr val="FDE047"/>
                </a:solidFill>
                <a:latin typeface="Consolas"/>
              </a:defRPr>
            </a:pPr>
            <a:r>
              <a:t>    digitalWrite(LED_YELLOW, (millis()/500)%2); // Chớp Vàng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    digitalWrite(BUZZER, LOW); return;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defRPr sz="950">
                <a:solidFill>
                  <a:srgbClr val="94A3B8"/>
                </a:solidFill>
                <a:latin typeface="Consolas"/>
              </a:defRPr>
            </a:pPr>
            <a:r>
              <a:t>  // 2. Kiểm tra MỨC NGUY HIỂM</a:t>
            </a:r>
          </a:p>
          <a:p>
            <a:pPr>
              <a:defRPr sz="950">
                <a:solidFill>
                  <a:srgbClr val="F87171"/>
                </a:solidFill>
                <a:latin typeface="Consolas"/>
              </a:defRPr>
            </a:pPr>
            <a:r>
              <a:t>  bool isDanger = (o2&lt;18.0 || co&gt;=30.0 || ch4&gt;=10.0);</a:t>
            </a:r>
          </a:p>
          <a:p>
            <a:pPr>
              <a:defRPr sz="950">
                <a:solidFill>
                  <a:srgbClr val="94A3B8"/>
                </a:solidFill>
                <a:latin typeface="Consolas"/>
              </a:defRPr>
            </a:pPr>
            <a:r>
              <a:t>  // 3. Kiểm tra MỨC CẢNH BÁO</a:t>
            </a:r>
          </a:p>
          <a:p>
            <a:pPr>
              <a:defRPr sz="950">
                <a:solidFill>
                  <a:srgbClr val="FDE047"/>
                </a:solidFill>
                <a:latin typeface="Consolas"/>
              </a:defRPr>
            </a:pPr>
            <a:r>
              <a:t>  bool isWarning = (o2&lt;=19.5 || co&gt;=15.0 || ch4&gt;=5.0);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F87171"/>
                </a:solidFill>
                <a:latin typeface="Consolas"/>
              </a:defRPr>
            </a:pPr>
            <a:r>
              <a:t>  if (isDanger) {</a:t>
            </a:r>
          </a:p>
          <a:p>
            <a:pPr>
              <a:defRPr sz="950">
                <a:solidFill>
                  <a:srgbClr val="F87171"/>
                </a:solidFill>
                <a:latin typeface="Consolas"/>
              </a:defRPr>
            </a:pPr>
            <a:r>
              <a:t>    digitalWrite(LED_RED, HIGH); // Bật ĐÈN ĐỎ</a:t>
            </a:r>
          </a:p>
          <a:p>
            <a:pPr>
              <a:defRPr sz="950">
                <a:solidFill>
                  <a:srgbClr val="F87171"/>
                </a:solidFill>
                <a:latin typeface="Consolas"/>
              </a:defRPr>
            </a:pPr>
            <a:r>
              <a:t>    digitalWrite(BUZZER, ((millis()/250)%2==0)?HIGH:LOW); // CÒI HÚ</a:t>
            </a:r>
          </a:p>
          <a:p>
            <a:pPr>
              <a:defRPr sz="950">
                <a:solidFill>
                  <a:srgbClr val="FDE047"/>
                </a:solidFill>
                <a:latin typeface="Consolas"/>
              </a:defRPr>
            </a:pPr>
            <a:r>
              <a:t>  } else if (isWarning) {</a:t>
            </a:r>
          </a:p>
          <a:p>
            <a:pPr>
              <a:defRPr sz="950">
                <a:solidFill>
                  <a:srgbClr val="FDE047"/>
                </a:solidFill>
                <a:latin typeface="Consolas"/>
              </a:defRPr>
            </a:pPr>
            <a:r>
              <a:t>    digitalWrite(LED_YELLOW, HIGH); // Bật ĐÈN VÀNG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    digitalWrite(BUZZER, LOW);      // Tắt còi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  } else {</a:t>
            </a:r>
          </a:p>
          <a:p>
            <a:pPr>
              <a:defRPr sz="950">
                <a:solidFill>
                  <a:srgbClr val="86EFAC"/>
                </a:solidFill>
                <a:latin typeface="Consolas"/>
              </a:defRPr>
            </a:pPr>
            <a:r>
              <a:t>    digitalWrite(LED_GREEN, HIGH);  // Bật ĐÈN XANH AN TOÀN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    digitalWrite(BUZZER, LOW);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pic>
        <p:nvPicPr>
          <p:cNvPr id="8" name="Picture 7" descr="hinh4_luu_do_thuat_to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45920"/>
            <a:ext cx="44805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DỰ ÁN NGHIÊN CỨU KHOA HỌC KỸ THUẬT THCS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8. Giám sát từ xa: Web SCADA tự phát Wi-Fi (Không cần 4G)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  <a:latin typeface="Arial"/>
              </a:defRPr>
            </a:pPr>
            <a:r>
              <a:t>TRẠM PHÁT WI-FI NỘI BỘ OFFLINE</a:t>
            </a:r>
          </a:p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1. KHÔNG CẦN INTERNET / 4G: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ESP32 trên mặt đất tự phát Wi-Fi Access Point tên: GIAM_SAT_KHONG_GIAN_KIN.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Người dùng kết nối bằng điện thoại di động (Mật khẩu: 12345678).</a:t>
            </a:r>
          </a:p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2. GIAO DIỆN WEB TRỰC QUAN (192.168.4.1):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4 ô thông số lớn hiển thị Oxy, CO, Metan và Nhiệt độ theo thời gian thực.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Ô nào vượt ngưỡng nguy hiểm sẽ tự động đổi màu đỏ rực.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Biểu đồ sóng chạy mượt mà giúp người giám sát nhận biết ngay xu hướng khí tăng hay giảm.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 • Tích hợp nút Xuất dữ liệu Excel (.CSV) để lưu trữ hồ sơ an toàn lao động.</a:t>
            </a:r>
          </a:p>
        </p:txBody>
      </p:sp>
      <p:pic>
        <p:nvPicPr>
          <p:cNvPr id="8" name="Picture 7" descr="hinh5_giao_dien_web_sc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DỰ ÁN NGHIÊN CỨU KHOA HỌC KỸ THUẬT THCS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9. Thử nghiệm thực tế &amp; Kết quả đo đạc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THỬ NGHIỆM 1: KHÍ GAS CHÁY (MQ-4)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Phương pháp an toàn: Dùng bật lửa ga nhấn xả ga nguội (tuyệt đối không đánh lửa) cách đầu đo 5cm trong buồng thử mica kín.</a:t>
            </a:r>
            <a:br/>
            <a:r>
              <a:t>• Hiện tượng: Nồng độ CH4 vọt từ 0% lên 15.2% LEL (&gt; 10% LEL).</a:t>
            </a:r>
            <a:br/>
            <a:r>
              <a:t>• Phản hồi: LED đỏ bật ngay, còi hú dồn dập sau đúng 1.2 giây!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THỬ NGHIỆM 2: CẠN KIỆT OXYGEN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Phương pháp: Đốt que đóm nến nhỏ rồi úp cốc kín để lửa hút cạn dưỡng khí Oxy trong cốc.</a:t>
            </a:r>
            <a:br/>
            <a:r>
              <a:t>• Hiện tượng: Oxy tụt đều từ 20.9% -&gt; 19.2% (LED Vàng sáng) -&gt; tụt tiếp xuống 16.5% (&lt; 18.0%).</a:t>
            </a:r>
            <a:br/>
            <a:r>
              <a:t>• Phản hồi: LED Đỏ sáng rực, còi hú báo động khẩn cấp!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82880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ĐÁNH GIÁ ĐỘ ỔN ĐỊNH ĐƯỜNG TRUYỀN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Cáp mạng Cat5e 4 - 5 mét đấu nối cụm 3-3-2 hoạt động liên tục trong 8 giờ.</a:t>
            </a:r>
            <a:br/>
            <a:r>
              <a:t>• Không xảy ra bất kỳ hiện tượng treo mạch hay sụt áp dưới 4.95V.</a:t>
            </a:r>
            <a:br/>
            <a:r>
              <a:t>• Tỉ lệ truyền gói tin RS485 thành công đạt 99.8%.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DỰ ÁN NGHIÊN CỨU KHOA HỌC KỸ THUẬT THCS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10. Ý nghĩa nhân văn &amp; Hướng phát triển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  <a:latin typeface="Arial"/>
              </a:defRPr>
            </a:pPr>
            <a:r>
              <a:t>Ý NGHĨA NHÂN VĂN SÂU SẮC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BẢO VỆ TÍNH MẠNG CON NGƯỜI: Chấm dứt hoàn toàn các thảm kịch cứu hộ dây chuyền tự phát trong gia đình và xã hội.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GIẢI PHÁP BÌNH DÂN: Chi phí chế tạo chỉ vài trăm nghìn đồng, mọi người dân nghèo, thợ giếng, công nhân vệ sinh đều dễ dàng tiếp cận.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NÂNG CAO Ý THỨC AN TOÀN LAO ĐỘNG: Tạo thói quen văn minh 'đo kiểm môi trường trước khi bước xuống'.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Arial"/>
              </a:defRPr>
            </a:pPr>
            <a:r>
              <a:t>HƯỚNG PHÁT TRIỂN TƯƠNG LAI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Mở rộng chiều dài dây cáp lên 10 - 15 mét phục vụ các không gian kín sâu trong công nghiệp.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Tích hợp thêm cảm biến đo khí cực độc Hydro sulfide (H2S) chuyên dụng cho cống rãnh ngầm.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Đúc vỏ hộp bằng công nghệ in 3D chống va đập và chống nước tiêu chuẩn IP65.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Tích hợp module gửi tin nhắn SMS khẩn cấp khi người giám sát đứng cách xa hiện trường.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XIN CHÂN THÀNH CẢM ƠN</a:t>
            </a:r>
            <a:br/>
            <a:r>
              <a:t>QUÝ BAN GIÁM KHẢO, THẦY CÔ VÀ CÁC BẠN!</a:t>
            </a:r>
          </a:p>
          <a:p>
            <a:pPr algn="ctr">
              <a:defRPr sz="1600" i="1">
                <a:solidFill>
                  <a:srgbClr val="0EA5E9"/>
                </a:solidFill>
                <a:latin typeface="Arial"/>
              </a:defRPr>
            </a:pPr>
            <a:br/>
            <a:r>
              <a:t>"Khoa học kỹ thuật bắt nguồn từ tình yêu thương</a:t>
            </a:r>
            <a:br/>
            <a:r>
              <a:t>và trách nhiệm bảo vệ sự sống con người!"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534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E2E8F0"/>
                </a:solidFill>
                <a:latin typeface="Arial"/>
              </a:defRPr>
            </a:pPr>
            <a:r>
              <a:t>Nhóm chúng em rất mong nhận được những ý kiến đóng góp quý báu!</a:t>
            </a:r>
            <a:br/>
            <a:r>
              <a:t>SẴN SÀNG TRẢ LỜI CÁC CÂU HỎI PHẢN BIỆN.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